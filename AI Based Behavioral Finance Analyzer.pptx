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7" r:id="rId4"/>
    <p:sldId id="268" r:id="rId5"/>
    <p:sldId id="258" r:id="rId6"/>
    <p:sldId id="259" r:id="rId7"/>
    <p:sldId id="261" r:id="rId8"/>
    <p:sldId id="269" r:id="rId9"/>
    <p:sldId id="262" r:id="rId10"/>
    <p:sldId id="263" r:id="rId11"/>
    <p:sldId id="264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Relationship Id="rId4" Type="http://schemas.openxmlformats.org/officeDocument/2006/relationships/image" Target="../media/image1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AB9F2E0-4704-4287-AA74-7639D664673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D02F42-8D42-4AE1-957C-B47B3FB4448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The integration of sentiment analysis and price forecasting shows how AI can replicate investor psychology and identify behavior-driven trends. </a:t>
          </a:r>
          <a:endParaRPr lang="en-US"/>
        </a:p>
      </dgm:t>
    </dgm:pt>
    <dgm:pt modelId="{A32122CB-E65F-45E4-B276-42BD818F6C9A}" type="parTrans" cxnId="{C1A13933-B6F3-499F-A912-8D5A2EAA7322}">
      <dgm:prSet/>
      <dgm:spPr/>
      <dgm:t>
        <a:bodyPr/>
        <a:lstStyle/>
        <a:p>
          <a:endParaRPr lang="en-US"/>
        </a:p>
      </dgm:t>
    </dgm:pt>
    <dgm:pt modelId="{FB2E85B1-98E6-4EC4-87A3-B86E870726C6}" type="sibTrans" cxnId="{C1A13933-B6F3-499F-A912-8D5A2EAA7322}">
      <dgm:prSet/>
      <dgm:spPr/>
      <dgm:t>
        <a:bodyPr/>
        <a:lstStyle/>
        <a:p>
          <a:endParaRPr lang="en-US"/>
        </a:p>
      </dgm:t>
    </dgm:pt>
    <dgm:pt modelId="{A591EE4A-0FBE-4A0C-8701-D770716FB2A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proves </a:t>
          </a:r>
          <a:r>
            <a:rPr lang="en-US"/>
            <a:t>t</a:t>
          </a:r>
          <a:r>
            <a:rPr lang="en-US" b="0" i="0" baseline="0"/>
            <a:t>hat Sentiment significantly affects market trends</a:t>
          </a:r>
          <a:endParaRPr lang="en-US"/>
        </a:p>
      </dgm:t>
    </dgm:pt>
    <dgm:pt modelId="{D05CE040-6DF8-41F1-A716-159C3C8F4DB1}" type="parTrans" cxnId="{6E1F4F83-9347-4DE6-8A4B-806851AA5C59}">
      <dgm:prSet/>
      <dgm:spPr/>
      <dgm:t>
        <a:bodyPr/>
        <a:lstStyle/>
        <a:p>
          <a:endParaRPr lang="en-US"/>
        </a:p>
      </dgm:t>
    </dgm:pt>
    <dgm:pt modelId="{08C31813-4CC2-4F27-A24D-194EEDE2EC03}" type="sibTrans" cxnId="{6E1F4F83-9347-4DE6-8A4B-806851AA5C59}">
      <dgm:prSet/>
      <dgm:spPr/>
      <dgm:t>
        <a:bodyPr/>
        <a:lstStyle/>
        <a:p>
          <a:endParaRPr lang="en-US"/>
        </a:p>
      </dgm:t>
    </dgm:pt>
    <dgm:pt modelId="{BC19AFB3-979A-488F-8BE3-C3B922C749F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AI can capture and model these psychological effects</a:t>
          </a:r>
          <a:endParaRPr lang="en-US"/>
        </a:p>
      </dgm:t>
    </dgm:pt>
    <dgm:pt modelId="{9ABACB7D-0D3A-4594-B337-790E38395D8B}" type="parTrans" cxnId="{7D992875-725C-4051-87A2-25152B3A83FE}">
      <dgm:prSet/>
      <dgm:spPr/>
      <dgm:t>
        <a:bodyPr/>
        <a:lstStyle/>
        <a:p>
          <a:endParaRPr lang="en-US"/>
        </a:p>
      </dgm:t>
    </dgm:pt>
    <dgm:pt modelId="{8EB4BAE9-C952-4199-853A-4EB1C371AB68}" type="sibTrans" cxnId="{7D992875-725C-4051-87A2-25152B3A83FE}">
      <dgm:prSet/>
      <dgm:spPr/>
      <dgm:t>
        <a:bodyPr/>
        <a:lstStyle/>
        <a:p>
          <a:endParaRPr lang="en-US"/>
        </a:p>
      </dgm:t>
    </dgm:pt>
    <dgm:pt modelId="{69AF89D8-EF81-4617-B3CF-C7FFDD1D047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The project not only achieved its goals but also introduced a data-driven approach to comprehending irrational behaviors in markets. </a:t>
          </a:r>
          <a:endParaRPr lang="en-US"/>
        </a:p>
      </dgm:t>
    </dgm:pt>
    <dgm:pt modelId="{47AE62D9-C44C-4EEC-B615-3F30581D9921}" type="parTrans" cxnId="{76101AF6-DF53-4403-8490-0FBC2E85F0A0}">
      <dgm:prSet/>
      <dgm:spPr/>
      <dgm:t>
        <a:bodyPr/>
        <a:lstStyle/>
        <a:p>
          <a:endParaRPr lang="en-US"/>
        </a:p>
      </dgm:t>
    </dgm:pt>
    <dgm:pt modelId="{D87B2A23-D276-453D-B289-9B097AAFC35D}" type="sibTrans" cxnId="{76101AF6-DF53-4403-8490-0FBC2E85F0A0}">
      <dgm:prSet/>
      <dgm:spPr/>
      <dgm:t>
        <a:bodyPr/>
        <a:lstStyle/>
        <a:p>
          <a:endParaRPr lang="en-US"/>
        </a:p>
      </dgm:t>
    </dgm:pt>
    <dgm:pt modelId="{4DBCA96F-D147-430C-A422-D4213D8DC13D}" type="pres">
      <dgm:prSet presAssocID="{AAB9F2E0-4704-4287-AA74-7639D6646735}" presName="root" presStyleCnt="0">
        <dgm:presLayoutVars>
          <dgm:dir/>
          <dgm:resizeHandles val="exact"/>
        </dgm:presLayoutVars>
      </dgm:prSet>
      <dgm:spPr/>
    </dgm:pt>
    <dgm:pt modelId="{0F351B62-FBD5-414A-91CD-CF023D51EA81}" type="pres">
      <dgm:prSet presAssocID="{B4D02F42-8D42-4AE1-957C-B47B3FB44480}" presName="compNode" presStyleCnt="0"/>
      <dgm:spPr/>
    </dgm:pt>
    <dgm:pt modelId="{56AADE45-1989-4589-98EB-510CC84D10B5}" type="pres">
      <dgm:prSet presAssocID="{B4D02F42-8D42-4AE1-957C-B47B3FB44480}" presName="bgRect" presStyleLbl="bgShp" presStyleIdx="0" presStyleCnt="4"/>
      <dgm:spPr/>
    </dgm:pt>
    <dgm:pt modelId="{6E003B3B-ABD6-4221-A1CC-8DB062BA6092}" type="pres">
      <dgm:prSet presAssocID="{B4D02F42-8D42-4AE1-957C-B47B3FB44480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AE6FBAC2-C950-4BE8-B76A-BEED51FF9DB4}" type="pres">
      <dgm:prSet presAssocID="{B4D02F42-8D42-4AE1-957C-B47B3FB44480}" presName="spaceRect" presStyleCnt="0"/>
      <dgm:spPr/>
    </dgm:pt>
    <dgm:pt modelId="{EAC0A726-EA08-4D29-BD09-433F7E17EE79}" type="pres">
      <dgm:prSet presAssocID="{B4D02F42-8D42-4AE1-957C-B47B3FB44480}" presName="parTx" presStyleLbl="revTx" presStyleIdx="0" presStyleCnt="4">
        <dgm:presLayoutVars>
          <dgm:chMax val="0"/>
          <dgm:chPref val="0"/>
        </dgm:presLayoutVars>
      </dgm:prSet>
      <dgm:spPr/>
    </dgm:pt>
    <dgm:pt modelId="{77730699-D317-4B5E-AA94-0AECA7B6D880}" type="pres">
      <dgm:prSet presAssocID="{FB2E85B1-98E6-4EC4-87A3-B86E870726C6}" presName="sibTrans" presStyleCnt="0"/>
      <dgm:spPr/>
    </dgm:pt>
    <dgm:pt modelId="{D25DD70F-7869-4F6C-A65B-0FC7AE0BC25E}" type="pres">
      <dgm:prSet presAssocID="{A591EE4A-0FBE-4A0C-8701-D770716FB2A4}" presName="compNode" presStyleCnt="0"/>
      <dgm:spPr/>
    </dgm:pt>
    <dgm:pt modelId="{6D7C681B-6304-44A3-AAB2-BC9178AFD82D}" type="pres">
      <dgm:prSet presAssocID="{A591EE4A-0FBE-4A0C-8701-D770716FB2A4}" presName="bgRect" presStyleLbl="bgShp" presStyleIdx="1" presStyleCnt="4"/>
      <dgm:spPr/>
    </dgm:pt>
    <dgm:pt modelId="{79FC50DA-7084-40AD-9F09-669E57F1DD93}" type="pres">
      <dgm:prSet presAssocID="{A591EE4A-0FBE-4A0C-8701-D770716FB2A4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1552261A-5E17-4C1E-97B8-D0CAB27D1076}" type="pres">
      <dgm:prSet presAssocID="{A591EE4A-0FBE-4A0C-8701-D770716FB2A4}" presName="spaceRect" presStyleCnt="0"/>
      <dgm:spPr/>
    </dgm:pt>
    <dgm:pt modelId="{65CF497F-6139-47B3-A30F-4A4794BC9F14}" type="pres">
      <dgm:prSet presAssocID="{A591EE4A-0FBE-4A0C-8701-D770716FB2A4}" presName="parTx" presStyleLbl="revTx" presStyleIdx="1" presStyleCnt="4">
        <dgm:presLayoutVars>
          <dgm:chMax val="0"/>
          <dgm:chPref val="0"/>
        </dgm:presLayoutVars>
      </dgm:prSet>
      <dgm:spPr/>
    </dgm:pt>
    <dgm:pt modelId="{743F1976-BA0A-41FE-90DB-F2C935F0D8E7}" type="pres">
      <dgm:prSet presAssocID="{08C31813-4CC2-4F27-A24D-194EEDE2EC03}" presName="sibTrans" presStyleCnt="0"/>
      <dgm:spPr/>
    </dgm:pt>
    <dgm:pt modelId="{D4CD3795-1AD1-4DC0-A724-AEFBCF02E7ED}" type="pres">
      <dgm:prSet presAssocID="{BC19AFB3-979A-488F-8BE3-C3B922C749FA}" presName="compNode" presStyleCnt="0"/>
      <dgm:spPr/>
    </dgm:pt>
    <dgm:pt modelId="{E29E94FF-07ED-4F99-B163-94B7702A192B}" type="pres">
      <dgm:prSet presAssocID="{BC19AFB3-979A-488F-8BE3-C3B922C749FA}" presName="bgRect" presStyleLbl="bgShp" presStyleIdx="2" presStyleCnt="4"/>
      <dgm:spPr/>
    </dgm:pt>
    <dgm:pt modelId="{B7F1A898-6FFD-4948-A568-B3580AC0722F}" type="pres">
      <dgm:prSet presAssocID="{BC19AFB3-979A-488F-8BE3-C3B922C749FA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1DE72CC0-3096-45F1-996D-5CCAFF1CDB71}" type="pres">
      <dgm:prSet presAssocID="{BC19AFB3-979A-488F-8BE3-C3B922C749FA}" presName="spaceRect" presStyleCnt="0"/>
      <dgm:spPr/>
    </dgm:pt>
    <dgm:pt modelId="{6E9E6CBC-1CC9-42F2-BB28-DC033AE7A1B5}" type="pres">
      <dgm:prSet presAssocID="{BC19AFB3-979A-488F-8BE3-C3B922C749FA}" presName="parTx" presStyleLbl="revTx" presStyleIdx="2" presStyleCnt="4">
        <dgm:presLayoutVars>
          <dgm:chMax val="0"/>
          <dgm:chPref val="0"/>
        </dgm:presLayoutVars>
      </dgm:prSet>
      <dgm:spPr/>
    </dgm:pt>
    <dgm:pt modelId="{982330E0-A307-40BF-9C36-9978D1C1155A}" type="pres">
      <dgm:prSet presAssocID="{8EB4BAE9-C952-4199-853A-4EB1C371AB68}" presName="sibTrans" presStyleCnt="0"/>
      <dgm:spPr/>
    </dgm:pt>
    <dgm:pt modelId="{8B98CA62-D1C0-4F27-8515-06157390001D}" type="pres">
      <dgm:prSet presAssocID="{69AF89D8-EF81-4617-B3CF-C7FFDD1D0472}" presName="compNode" presStyleCnt="0"/>
      <dgm:spPr/>
    </dgm:pt>
    <dgm:pt modelId="{2E99A369-D4B4-46C0-8DE7-AC9C74440330}" type="pres">
      <dgm:prSet presAssocID="{69AF89D8-EF81-4617-B3CF-C7FFDD1D0472}" presName="bgRect" presStyleLbl="bgShp" presStyleIdx="3" presStyleCnt="4"/>
      <dgm:spPr/>
    </dgm:pt>
    <dgm:pt modelId="{940D19DD-125F-41FF-95F3-79AA18253148}" type="pres">
      <dgm:prSet presAssocID="{69AF89D8-EF81-4617-B3CF-C7FFDD1D0472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53167F16-2FB0-4C3B-BAC0-A4A3F97DF057}" type="pres">
      <dgm:prSet presAssocID="{69AF89D8-EF81-4617-B3CF-C7FFDD1D0472}" presName="spaceRect" presStyleCnt="0"/>
      <dgm:spPr/>
    </dgm:pt>
    <dgm:pt modelId="{6CA3E1E1-AA1D-499B-B6A3-36830E9E5E01}" type="pres">
      <dgm:prSet presAssocID="{69AF89D8-EF81-4617-B3CF-C7FFDD1D047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3A68B2D-1038-4836-B356-B49F72AD22A2}" type="presOf" srcId="{69AF89D8-EF81-4617-B3CF-C7FFDD1D0472}" destId="{6CA3E1E1-AA1D-499B-B6A3-36830E9E5E01}" srcOrd="0" destOrd="0" presId="urn:microsoft.com/office/officeart/2018/2/layout/IconVerticalSolidList"/>
    <dgm:cxn modelId="{C1A13933-B6F3-499F-A912-8D5A2EAA7322}" srcId="{AAB9F2E0-4704-4287-AA74-7639D6646735}" destId="{B4D02F42-8D42-4AE1-957C-B47B3FB44480}" srcOrd="0" destOrd="0" parTransId="{A32122CB-E65F-45E4-B276-42BD818F6C9A}" sibTransId="{FB2E85B1-98E6-4EC4-87A3-B86E870726C6}"/>
    <dgm:cxn modelId="{7737A434-41AA-4D16-B101-0C8990DCD3C6}" type="presOf" srcId="{AAB9F2E0-4704-4287-AA74-7639D6646735}" destId="{4DBCA96F-D147-430C-A422-D4213D8DC13D}" srcOrd="0" destOrd="0" presId="urn:microsoft.com/office/officeart/2018/2/layout/IconVerticalSolidList"/>
    <dgm:cxn modelId="{C5C49038-40E2-459F-9380-A835BCCE8866}" type="presOf" srcId="{A591EE4A-0FBE-4A0C-8701-D770716FB2A4}" destId="{65CF497F-6139-47B3-A30F-4A4794BC9F14}" srcOrd="0" destOrd="0" presId="urn:microsoft.com/office/officeart/2018/2/layout/IconVerticalSolidList"/>
    <dgm:cxn modelId="{CC6F2563-FA65-4A7D-87CF-A7EB8DB22BE9}" type="presOf" srcId="{B4D02F42-8D42-4AE1-957C-B47B3FB44480}" destId="{EAC0A726-EA08-4D29-BD09-433F7E17EE79}" srcOrd="0" destOrd="0" presId="urn:microsoft.com/office/officeart/2018/2/layout/IconVerticalSolidList"/>
    <dgm:cxn modelId="{7D992875-725C-4051-87A2-25152B3A83FE}" srcId="{AAB9F2E0-4704-4287-AA74-7639D6646735}" destId="{BC19AFB3-979A-488F-8BE3-C3B922C749FA}" srcOrd="2" destOrd="0" parTransId="{9ABACB7D-0D3A-4594-B337-790E38395D8B}" sibTransId="{8EB4BAE9-C952-4199-853A-4EB1C371AB68}"/>
    <dgm:cxn modelId="{7BC68D76-97FC-4877-9427-91430D9DBB3B}" type="presOf" srcId="{BC19AFB3-979A-488F-8BE3-C3B922C749FA}" destId="{6E9E6CBC-1CC9-42F2-BB28-DC033AE7A1B5}" srcOrd="0" destOrd="0" presId="urn:microsoft.com/office/officeart/2018/2/layout/IconVerticalSolidList"/>
    <dgm:cxn modelId="{6E1F4F83-9347-4DE6-8A4B-806851AA5C59}" srcId="{AAB9F2E0-4704-4287-AA74-7639D6646735}" destId="{A591EE4A-0FBE-4A0C-8701-D770716FB2A4}" srcOrd="1" destOrd="0" parTransId="{D05CE040-6DF8-41F1-A716-159C3C8F4DB1}" sibTransId="{08C31813-4CC2-4F27-A24D-194EEDE2EC03}"/>
    <dgm:cxn modelId="{76101AF6-DF53-4403-8490-0FBC2E85F0A0}" srcId="{AAB9F2E0-4704-4287-AA74-7639D6646735}" destId="{69AF89D8-EF81-4617-B3CF-C7FFDD1D0472}" srcOrd="3" destOrd="0" parTransId="{47AE62D9-C44C-4EEC-B615-3F30581D9921}" sibTransId="{D87B2A23-D276-453D-B289-9B097AAFC35D}"/>
    <dgm:cxn modelId="{20312711-B44E-41B0-90CD-5F666CBF3790}" type="presParOf" srcId="{4DBCA96F-D147-430C-A422-D4213D8DC13D}" destId="{0F351B62-FBD5-414A-91CD-CF023D51EA81}" srcOrd="0" destOrd="0" presId="urn:microsoft.com/office/officeart/2018/2/layout/IconVerticalSolidList"/>
    <dgm:cxn modelId="{20960C6B-08D4-4FFC-BD83-E74D001E4BAC}" type="presParOf" srcId="{0F351B62-FBD5-414A-91CD-CF023D51EA81}" destId="{56AADE45-1989-4589-98EB-510CC84D10B5}" srcOrd="0" destOrd="0" presId="urn:microsoft.com/office/officeart/2018/2/layout/IconVerticalSolidList"/>
    <dgm:cxn modelId="{AF697280-5214-4DF3-98B2-E0F04C421894}" type="presParOf" srcId="{0F351B62-FBD5-414A-91CD-CF023D51EA81}" destId="{6E003B3B-ABD6-4221-A1CC-8DB062BA6092}" srcOrd="1" destOrd="0" presId="urn:microsoft.com/office/officeart/2018/2/layout/IconVerticalSolidList"/>
    <dgm:cxn modelId="{9FE21111-F688-4076-A1FC-38C1B1F3ED45}" type="presParOf" srcId="{0F351B62-FBD5-414A-91CD-CF023D51EA81}" destId="{AE6FBAC2-C950-4BE8-B76A-BEED51FF9DB4}" srcOrd="2" destOrd="0" presId="urn:microsoft.com/office/officeart/2018/2/layout/IconVerticalSolidList"/>
    <dgm:cxn modelId="{58E9F9D3-5AF5-42D9-977D-60B10CA284D3}" type="presParOf" srcId="{0F351B62-FBD5-414A-91CD-CF023D51EA81}" destId="{EAC0A726-EA08-4D29-BD09-433F7E17EE79}" srcOrd="3" destOrd="0" presId="urn:microsoft.com/office/officeart/2018/2/layout/IconVerticalSolidList"/>
    <dgm:cxn modelId="{9FA7C526-DDDF-40F7-ACD7-9E1D25A663C7}" type="presParOf" srcId="{4DBCA96F-D147-430C-A422-D4213D8DC13D}" destId="{77730699-D317-4B5E-AA94-0AECA7B6D880}" srcOrd="1" destOrd="0" presId="urn:microsoft.com/office/officeart/2018/2/layout/IconVerticalSolidList"/>
    <dgm:cxn modelId="{CD587E42-7BD0-48E1-ABD4-4AC9381B07E2}" type="presParOf" srcId="{4DBCA96F-D147-430C-A422-D4213D8DC13D}" destId="{D25DD70F-7869-4F6C-A65B-0FC7AE0BC25E}" srcOrd="2" destOrd="0" presId="urn:microsoft.com/office/officeart/2018/2/layout/IconVerticalSolidList"/>
    <dgm:cxn modelId="{F7A557B8-48A2-4407-AD08-A6221345AF99}" type="presParOf" srcId="{D25DD70F-7869-4F6C-A65B-0FC7AE0BC25E}" destId="{6D7C681B-6304-44A3-AAB2-BC9178AFD82D}" srcOrd="0" destOrd="0" presId="urn:microsoft.com/office/officeart/2018/2/layout/IconVerticalSolidList"/>
    <dgm:cxn modelId="{1605656D-938E-40CF-885C-F541263F1C5A}" type="presParOf" srcId="{D25DD70F-7869-4F6C-A65B-0FC7AE0BC25E}" destId="{79FC50DA-7084-40AD-9F09-669E57F1DD93}" srcOrd="1" destOrd="0" presId="urn:microsoft.com/office/officeart/2018/2/layout/IconVerticalSolidList"/>
    <dgm:cxn modelId="{49895253-D8A5-4BC0-96F9-D6279EF45CD6}" type="presParOf" srcId="{D25DD70F-7869-4F6C-A65B-0FC7AE0BC25E}" destId="{1552261A-5E17-4C1E-97B8-D0CAB27D1076}" srcOrd="2" destOrd="0" presId="urn:microsoft.com/office/officeart/2018/2/layout/IconVerticalSolidList"/>
    <dgm:cxn modelId="{B3B46BC3-6327-46F0-B0CE-B71A22F5E74B}" type="presParOf" srcId="{D25DD70F-7869-4F6C-A65B-0FC7AE0BC25E}" destId="{65CF497F-6139-47B3-A30F-4A4794BC9F14}" srcOrd="3" destOrd="0" presId="urn:microsoft.com/office/officeart/2018/2/layout/IconVerticalSolidList"/>
    <dgm:cxn modelId="{2611ED0A-708C-4EAD-911D-E1D86A9E8E0A}" type="presParOf" srcId="{4DBCA96F-D147-430C-A422-D4213D8DC13D}" destId="{743F1976-BA0A-41FE-90DB-F2C935F0D8E7}" srcOrd="3" destOrd="0" presId="urn:microsoft.com/office/officeart/2018/2/layout/IconVerticalSolidList"/>
    <dgm:cxn modelId="{FD4B4325-9F17-4896-9F16-D9115A19324E}" type="presParOf" srcId="{4DBCA96F-D147-430C-A422-D4213D8DC13D}" destId="{D4CD3795-1AD1-4DC0-A724-AEFBCF02E7ED}" srcOrd="4" destOrd="0" presId="urn:microsoft.com/office/officeart/2018/2/layout/IconVerticalSolidList"/>
    <dgm:cxn modelId="{85949EDF-325B-43BE-8925-B6B727D36D62}" type="presParOf" srcId="{D4CD3795-1AD1-4DC0-A724-AEFBCF02E7ED}" destId="{E29E94FF-07ED-4F99-B163-94B7702A192B}" srcOrd="0" destOrd="0" presId="urn:microsoft.com/office/officeart/2018/2/layout/IconVerticalSolidList"/>
    <dgm:cxn modelId="{FFBA6816-9E9C-47E1-A348-CBC5E839BF26}" type="presParOf" srcId="{D4CD3795-1AD1-4DC0-A724-AEFBCF02E7ED}" destId="{B7F1A898-6FFD-4948-A568-B3580AC0722F}" srcOrd="1" destOrd="0" presId="urn:microsoft.com/office/officeart/2018/2/layout/IconVerticalSolidList"/>
    <dgm:cxn modelId="{B2E3F497-E9B1-4B81-90BC-2462CEF3D2E6}" type="presParOf" srcId="{D4CD3795-1AD1-4DC0-A724-AEFBCF02E7ED}" destId="{1DE72CC0-3096-45F1-996D-5CCAFF1CDB71}" srcOrd="2" destOrd="0" presId="urn:microsoft.com/office/officeart/2018/2/layout/IconVerticalSolidList"/>
    <dgm:cxn modelId="{E43F41C9-0CD4-4FA8-B6BC-F25896AC5AEF}" type="presParOf" srcId="{D4CD3795-1AD1-4DC0-A724-AEFBCF02E7ED}" destId="{6E9E6CBC-1CC9-42F2-BB28-DC033AE7A1B5}" srcOrd="3" destOrd="0" presId="urn:microsoft.com/office/officeart/2018/2/layout/IconVerticalSolidList"/>
    <dgm:cxn modelId="{2A9692C8-A794-4053-A23E-9280DE097E6E}" type="presParOf" srcId="{4DBCA96F-D147-430C-A422-D4213D8DC13D}" destId="{982330E0-A307-40BF-9C36-9978D1C1155A}" srcOrd="5" destOrd="0" presId="urn:microsoft.com/office/officeart/2018/2/layout/IconVerticalSolidList"/>
    <dgm:cxn modelId="{B9F5BC0A-4A32-46F6-AD66-2B288E225D6F}" type="presParOf" srcId="{4DBCA96F-D147-430C-A422-D4213D8DC13D}" destId="{8B98CA62-D1C0-4F27-8515-06157390001D}" srcOrd="6" destOrd="0" presId="urn:microsoft.com/office/officeart/2018/2/layout/IconVerticalSolidList"/>
    <dgm:cxn modelId="{BBC85512-7B87-4DCE-8DB0-3A903AF70D06}" type="presParOf" srcId="{8B98CA62-D1C0-4F27-8515-06157390001D}" destId="{2E99A369-D4B4-46C0-8DE7-AC9C74440330}" srcOrd="0" destOrd="0" presId="urn:microsoft.com/office/officeart/2018/2/layout/IconVerticalSolidList"/>
    <dgm:cxn modelId="{858C5946-B72B-457F-A461-BAFC7DA03E01}" type="presParOf" srcId="{8B98CA62-D1C0-4F27-8515-06157390001D}" destId="{940D19DD-125F-41FF-95F3-79AA18253148}" srcOrd="1" destOrd="0" presId="urn:microsoft.com/office/officeart/2018/2/layout/IconVerticalSolidList"/>
    <dgm:cxn modelId="{649445DC-EBE3-4417-B9FF-C4DDA3A324E7}" type="presParOf" srcId="{8B98CA62-D1C0-4F27-8515-06157390001D}" destId="{53167F16-2FB0-4C3B-BAC0-A4A3F97DF057}" srcOrd="2" destOrd="0" presId="urn:microsoft.com/office/officeart/2018/2/layout/IconVerticalSolidList"/>
    <dgm:cxn modelId="{37799914-257B-4EFF-B8E3-7DA8C016FDDA}" type="presParOf" srcId="{8B98CA62-D1C0-4F27-8515-06157390001D}" destId="{6CA3E1E1-AA1D-499B-B6A3-36830E9E5E0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AADE45-1989-4589-98EB-510CC84D10B5}">
      <dsp:nvSpPr>
        <dsp:cNvPr id="0" name=""/>
        <dsp:cNvSpPr/>
      </dsp:nvSpPr>
      <dsp:spPr>
        <a:xfrm>
          <a:off x="0" y="1563"/>
          <a:ext cx="11155680" cy="7924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003B3B-ABD6-4221-A1CC-8DB062BA6092}">
      <dsp:nvSpPr>
        <dsp:cNvPr id="0" name=""/>
        <dsp:cNvSpPr/>
      </dsp:nvSpPr>
      <dsp:spPr>
        <a:xfrm>
          <a:off x="239720" y="179867"/>
          <a:ext cx="435854" cy="43585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C0A726-EA08-4D29-BD09-433F7E17EE79}">
      <dsp:nvSpPr>
        <dsp:cNvPr id="0" name=""/>
        <dsp:cNvSpPr/>
      </dsp:nvSpPr>
      <dsp:spPr>
        <a:xfrm>
          <a:off x="915295" y="1563"/>
          <a:ext cx="10240384" cy="7924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69" tIns="83869" rIns="83869" bIns="83869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The integration of sentiment analysis and price forecasting shows how AI can replicate investor psychology and identify behavior-driven trends. </a:t>
          </a:r>
          <a:endParaRPr lang="en-US" sz="2000" kern="1200"/>
        </a:p>
      </dsp:txBody>
      <dsp:txXfrm>
        <a:off x="915295" y="1563"/>
        <a:ext cx="10240384" cy="792463"/>
      </dsp:txXfrm>
    </dsp:sp>
    <dsp:sp modelId="{6D7C681B-6304-44A3-AAB2-BC9178AFD82D}">
      <dsp:nvSpPr>
        <dsp:cNvPr id="0" name=""/>
        <dsp:cNvSpPr/>
      </dsp:nvSpPr>
      <dsp:spPr>
        <a:xfrm>
          <a:off x="0" y="992142"/>
          <a:ext cx="11155680" cy="7924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FC50DA-7084-40AD-9F09-669E57F1DD93}">
      <dsp:nvSpPr>
        <dsp:cNvPr id="0" name=""/>
        <dsp:cNvSpPr/>
      </dsp:nvSpPr>
      <dsp:spPr>
        <a:xfrm>
          <a:off x="239720" y="1170447"/>
          <a:ext cx="435854" cy="43585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CF497F-6139-47B3-A30F-4A4794BC9F14}">
      <dsp:nvSpPr>
        <dsp:cNvPr id="0" name=""/>
        <dsp:cNvSpPr/>
      </dsp:nvSpPr>
      <dsp:spPr>
        <a:xfrm>
          <a:off x="915295" y="992142"/>
          <a:ext cx="10240384" cy="7924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69" tIns="83869" rIns="83869" bIns="83869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proves </a:t>
          </a:r>
          <a:r>
            <a:rPr lang="en-US" sz="2000" kern="1200"/>
            <a:t>t</a:t>
          </a:r>
          <a:r>
            <a:rPr lang="en-US" sz="2000" b="0" i="0" kern="1200" baseline="0"/>
            <a:t>hat Sentiment significantly affects market trends</a:t>
          </a:r>
          <a:endParaRPr lang="en-US" sz="2000" kern="1200"/>
        </a:p>
      </dsp:txBody>
      <dsp:txXfrm>
        <a:off x="915295" y="992142"/>
        <a:ext cx="10240384" cy="792463"/>
      </dsp:txXfrm>
    </dsp:sp>
    <dsp:sp modelId="{E29E94FF-07ED-4F99-B163-94B7702A192B}">
      <dsp:nvSpPr>
        <dsp:cNvPr id="0" name=""/>
        <dsp:cNvSpPr/>
      </dsp:nvSpPr>
      <dsp:spPr>
        <a:xfrm>
          <a:off x="0" y="1982721"/>
          <a:ext cx="11155680" cy="7924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F1A898-6FFD-4948-A568-B3580AC0722F}">
      <dsp:nvSpPr>
        <dsp:cNvPr id="0" name=""/>
        <dsp:cNvSpPr/>
      </dsp:nvSpPr>
      <dsp:spPr>
        <a:xfrm>
          <a:off x="239720" y="2161026"/>
          <a:ext cx="435854" cy="43585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9E6CBC-1CC9-42F2-BB28-DC033AE7A1B5}">
      <dsp:nvSpPr>
        <dsp:cNvPr id="0" name=""/>
        <dsp:cNvSpPr/>
      </dsp:nvSpPr>
      <dsp:spPr>
        <a:xfrm>
          <a:off x="915295" y="1982721"/>
          <a:ext cx="10240384" cy="7924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69" tIns="83869" rIns="83869" bIns="83869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AI can capture and model these psychological effects</a:t>
          </a:r>
          <a:endParaRPr lang="en-US" sz="2000" kern="1200"/>
        </a:p>
      </dsp:txBody>
      <dsp:txXfrm>
        <a:off x="915295" y="1982721"/>
        <a:ext cx="10240384" cy="792463"/>
      </dsp:txXfrm>
    </dsp:sp>
    <dsp:sp modelId="{2E99A369-D4B4-46C0-8DE7-AC9C74440330}">
      <dsp:nvSpPr>
        <dsp:cNvPr id="0" name=""/>
        <dsp:cNvSpPr/>
      </dsp:nvSpPr>
      <dsp:spPr>
        <a:xfrm>
          <a:off x="0" y="2973301"/>
          <a:ext cx="11155680" cy="7924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0D19DD-125F-41FF-95F3-79AA18253148}">
      <dsp:nvSpPr>
        <dsp:cNvPr id="0" name=""/>
        <dsp:cNvSpPr/>
      </dsp:nvSpPr>
      <dsp:spPr>
        <a:xfrm>
          <a:off x="239720" y="3151605"/>
          <a:ext cx="435854" cy="43585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A3E1E1-AA1D-499B-B6A3-36830E9E5E01}">
      <dsp:nvSpPr>
        <dsp:cNvPr id="0" name=""/>
        <dsp:cNvSpPr/>
      </dsp:nvSpPr>
      <dsp:spPr>
        <a:xfrm>
          <a:off x="915295" y="2973301"/>
          <a:ext cx="10240384" cy="7924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69" tIns="83869" rIns="83869" bIns="83869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The project not only achieved its goals but also introduced a data-driven approach to comprehending irrational behaviors in markets. </a:t>
          </a:r>
          <a:endParaRPr lang="en-US" sz="2000" kern="1200"/>
        </a:p>
      </dsp:txBody>
      <dsp:txXfrm>
        <a:off x="915295" y="2973301"/>
        <a:ext cx="10240384" cy="7924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936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035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1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670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423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997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990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827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600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31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985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135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3EE6B5-D9E3-14B7-13F6-9B1E6F958EC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5000"/>
          <a:stretch/>
        </p:blipFill>
        <p:spPr>
          <a:xfrm>
            <a:off x="-2" y="-4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F4D8187-268C-8AF1-BEF4-8650B5AFCD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6260" y="1531925"/>
            <a:ext cx="10879473" cy="2450592"/>
          </a:xfrm>
        </p:spPr>
        <p:txBody>
          <a:bodyPr anchor="t">
            <a:normAutofit/>
          </a:bodyPr>
          <a:lstStyle/>
          <a:p>
            <a:pPr algn="ctr"/>
            <a:r>
              <a:rPr lang="en-IN" sz="6000" dirty="0">
                <a:solidFill>
                  <a:srgbClr val="FFFFFF"/>
                </a:solidFill>
              </a:rPr>
              <a:t>AI Based Behavioral Finance Analyzer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D538C8-1118-3E46-AEA0-85DCD3A8D3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762" y="4007786"/>
            <a:ext cx="11366470" cy="374350"/>
          </a:xfrm>
        </p:spPr>
        <p:txBody>
          <a:bodyPr anchor="b">
            <a:normAutofit fontScale="92500" lnSpcReduction="20000"/>
          </a:bodyPr>
          <a:lstStyle/>
          <a:p>
            <a:pPr algn="ctr"/>
            <a:r>
              <a:rPr lang="en-US" sz="2000" dirty="0"/>
              <a:t>Leveraging Sentiment Analysis and Stock Price Forecasting for Market Psychology Insights</a:t>
            </a:r>
            <a:endParaRPr lang="en-IN" sz="2400" dirty="0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9759AF-A275-43C3-A826-E1148CA78617}"/>
              </a:ext>
            </a:extLst>
          </p:cNvPr>
          <p:cNvSpPr txBox="1"/>
          <p:nvPr/>
        </p:nvSpPr>
        <p:spPr>
          <a:xfrm>
            <a:off x="7050044" y="5380947"/>
            <a:ext cx="4245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Presented by</a:t>
            </a:r>
            <a:r>
              <a:rPr lang="en-IN" dirty="0"/>
              <a:t>: Aashvi Jain 229310185</a:t>
            </a:r>
            <a:br>
              <a:rPr lang="en-IN" dirty="0"/>
            </a:br>
            <a:r>
              <a:rPr lang="en-IN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3317150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24E18-A7FF-6CC9-0B8D-BB5BA515A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DA2C7-F5C5-1538-CE22-E7E51910D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926771"/>
            <a:ext cx="11155680" cy="4419165"/>
          </a:xfrm>
        </p:spPr>
        <p:txBody>
          <a:bodyPr>
            <a:normAutofit/>
          </a:bodyPr>
          <a:lstStyle/>
          <a:p>
            <a:r>
              <a:rPr lang="en-US" sz="2000" dirty="0"/>
              <a:t>Behavioral finance combines psychology with finance to understand market anomalies.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Sentiment plays a vital role in investor decisions—especially emotions like fear and greed, </a:t>
            </a:r>
            <a:r>
              <a:rPr lang="en-US" sz="2000" b="0" i="0" u="none" strike="noStrike" baseline="0" dirty="0">
                <a:solidFill>
                  <a:srgbClr val="000000"/>
                </a:solidFill>
              </a:rPr>
              <a:t>and herd mentality that drive stock prices significantly. 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This project fuses Natural Language Processing and Time Series Analysis to market sentiment and predict movements. By analyzing key patterns and relationships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621770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55775-A5F6-2E4A-5153-FDF9993DC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Motivation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B6180-8302-4290-1727-26011CA65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600200"/>
            <a:ext cx="11155680" cy="4745736"/>
          </a:xfrm>
        </p:spPr>
        <p:txBody>
          <a:bodyPr>
            <a:normAutofit/>
          </a:bodyPr>
          <a:lstStyle/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Problem Statement:</a:t>
            </a:r>
            <a:endParaRPr lang="en-US" dirty="0"/>
          </a:p>
          <a:p>
            <a:pPr marL="0" indent="0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</a:rPr>
              <a:t>The aim of this project is to create an AI-Based Behavioral Finance Analyzer that implements NLP sentiment analysis as well as stock market forecasting to study the intricate behavioral patterns that shape the market.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</a:rPr>
              <a:t>The primary research objectives include: </a:t>
            </a:r>
          </a:p>
          <a:p>
            <a:pPr marL="0" indent="0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</a:rPr>
              <a:t>• Collecting and preprocessing real-world financial textual data and stock prices. </a:t>
            </a:r>
          </a:p>
          <a:p>
            <a:pPr marL="0" indent="0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</a:rPr>
              <a:t>• Training a DistilBERT-based sentiment classifier to categorize sentiments accurately as positive or negative. </a:t>
            </a:r>
          </a:p>
          <a:p>
            <a:pPr marL="0" indent="0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</a:rPr>
              <a:t>• Developing an LSTM model for predicting future stock prices based on historical data. </a:t>
            </a:r>
          </a:p>
          <a:p>
            <a:pPr marL="0" indent="0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</a:rPr>
              <a:t>• Integrating sentiment predictions with stock price forecasts on a time-synchronized axis. </a:t>
            </a:r>
          </a:p>
          <a:p>
            <a:pPr marL="0" indent="0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</a:rPr>
              <a:t>• Visualizing and evaluating the behavioral relationship between public sentiment and stock price changes. </a:t>
            </a:r>
            <a:endParaRPr lang="en-IN" sz="1800" b="0" i="0" u="none" strike="noStrike" baseline="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6421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9FABE-EE3B-DA40-CD01-59D62DA36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E4CA2-91E0-8A91-D23E-8DD6FFC803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2112264"/>
            <a:ext cx="11155680" cy="3767328"/>
          </a:xfrm>
        </p:spPr>
        <p:txBody>
          <a:bodyPr/>
          <a:lstStyle/>
          <a:p>
            <a:pPr marL="0" indent="0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The project utilizes a combination of AI, data science, and deep learning tools: </a:t>
            </a:r>
          </a:p>
          <a:p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Python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: Primary programming language used for development. </a:t>
            </a:r>
          </a:p>
          <a:p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Transformers (Hugging Face)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: For loading and fine-tuning the DistilBERT model. </a:t>
            </a:r>
          </a:p>
          <a:p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TensorFlow/</a:t>
            </a:r>
            <a:r>
              <a:rPr lang="en-US" sz="1800" b="1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Keras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: For developing the LSTM-based stock price prediction model. </a:t>
            </a:r>
          </a:p>
          <a:p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Scikit-learn &amp; VADER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: For data preprocessing, labeling, and evaluation. </a:t>
            </a:r>
          </a:p>
          <a:p>
            <a:r>
              <a:rPr lang="en-IN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Pandas &amp; NumPy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: For data handling and transformations. </a:t>
            </a:r>
          </a:p>
          <a:p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Matplotlib &amp; Seaborn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: For visualization of trends, heatmaps, and analytical insights. </a:t>
            </a:r>
          </a:p>
          <a:p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Yahoo Finance / Kaggle APIs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: For stock price and financial sentiment data acquisition.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2981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61A054-1542-077A-089F-BD4BE9E38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397649" cy="33037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System Architecture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D8C63C-75C3-2601-2747-7CAD281D3D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60940" y="958512"/>
            <a:ext cx="6032931" cy="5598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338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1031F-EA09-E362-F6B4-58AF51CA6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Description &amp;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EE999-E67B-047E-635C-66F903819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607" y="2220686"/>
            <a:ext cx="6260592" cy="1915884"/>
          </a:xfrm>
        </p:spPr>
        <p:txBody>
          <a:bodyPr numCol="2">
            <a:normAutofit/>
          </a:bodyPr>
          <a:lstStyle/>
          <a:p>
            <a:pPr marL="0" indent="0" algn="ctr">
              <a:buNone/>
            </a:pPr>
            <a:r>
              <a:rPr lang="en-US" b="1" dirty="0"/>
              <a:t>Sentiment Sources: </a:t>
            </a:r>
          </a:p>
          <a:p>
            <a:pPr marL="342900" indent="-342900">
              <a:buFont typeface="+mj-lt"/>
              <a:buAutoNum type="alphaLcParenR"/>
            </a:pPr>
            <a:r>
              <a:rPr lang="en-US" dirty="0"/>
              <a:t>CNBC – (2800,4)</a:t>
            </a:r>
          </a:p>
          <a:p>
            <a:pPr marL="342900" indent="-342900">
              <a:buFont typeface="+mj-lt"/>
              <a:buAutoNum type="alphaLcParenR"/>
            </a:pPr>
            <a:r>
              <a:rPr lang="en-US" dirty="0"/>
              <a:t>Twitter – (30000,4)</a:t>
            </a:r>
          </a:p>
          <a:p>
            <a:pPr marL="342900" indent="-342900">
              <a:buFont typeface="+mj-lt"/>
              <a:buAutoNum type="alphaLcParenR"/>
            </a:pPr>
            <a:r>
              <a:rPr lang="en-US" dirty="0"/>
              <a:t>Stock Twits – (15000,4)</a:t>
            </a:r>
          </a:p>
          <a:p>
            <a:pPr marL="0" indent="0" algn="ctr">
              <a:buNone/>
            </a:pPr>
            <a:r>
              <a:rPr lang="en-US" b="1" dirty="0"/>
              <a:t>Stock Data:</a:t>
            </a:r>
          </a:p>
          <a:p>
            <a:pPr marL="342900" indent="-342900">
              <a:buFont typeface="+mj-lt"/>
              <a:buAutoNum type="alphaLcParenR"/>
            </a:pPr>
            <a:r>
              <a:rPr lang="en-US" dirty="0"/>
              <a:t> Yahoo Finance (Adjusted Closing prices)</a:t>
            </a:r>
          </a:p>
          <a:p>
            <a:endParaRPr lang="en-IN" dirty="0"/>
          </a:p>
        </p:txBody>
      </p:sp>
      <p:pic>
        <p:nvPicPr>
          <p:cNvPr id="6" name="Picture 2" descr="Output image">
            <a:extLst>
              <a:ext uri="{FF2B5EF4-FFF2-40B4-BE49-F238E27FC236}">
                <a16:creationId xmlns:a16="http://schemas.microsoft.com/office/drawing/2014/main" id="{F47BE5E4-1862-D095-A8AC-ED0B7FD420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42" b="3973"/>
          <a:stretch/>
        </p:blipFill>
        <p:spPr bwMode="auto">
          <a:xfrm>
            <a:off x="8184751" y="2347571"/>
            <a:ext cx="3158163" cy="2816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C034F8-2A92-ECD5-CD4D-7FB363F994F8}"/>
              </a:ext>
            </a:extLst>
          </p:cNvPr>
          <p:cNvSpPr txBox="1"/>
          <p:nvPr/>
        </p:nvSpPr>
        <p:spPr>
          <a:xfrm>
            <a:off x="622663" y="4416553"/>
            <a:ext cx="722811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Preprocessing: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Standardizing columns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Cleaning text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Sentiment labeling using VADER (0 = Fear, 1 = Greed)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Merging on timestamps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2726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D8784-8D43-D1A4-D625-E1A216AE3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Sentiment Analysis – DistilBERT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A077C-D436-FC5A-960B-B9A711E07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992086"/>
            <a:ext cx="11149584" cy="4353850"/>
          </a:xfrm>
        </p:spPr>
        <p:txBody>
          <a:bodyPr>
            <a:normAutofit/>
          </a:bodyPr>
          <a:lstStyle/>
          <a:p>
            <a:r>
              <a:rPr lang="en-US" dirty="0"/>
              <a:t>DistilBERT model chosen for it’s efficiency and performance.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Fine-tuned on merged dataset labeled using VADER</a:t>
            </a:r>
          </a:p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Imported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DistilBertTokenizer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TFDistilBertForSequenceClassification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, and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AdamWeightDecay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Train – test split = 80:20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en-US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/>
              <a:t>Evaluation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Training Accuracy: 97.28%,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Validation Accuracy : 80%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66ECCA-007C-4BF9-5295-4CB645213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7028" y="3455126"/>
            <a:ext cx="4887685" cy="3066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252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123537B-30DF-9274-1EF5-DA556A48AC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81409" y="2114366"/>
            <a:ext cx="5792008" cy="2629267"/>
          </a:xfrm>
        </p:spPr>
      </p:pic>
      <p:pic>
        <p:nvPicPr>
          <p:cNvPr id="3079" name="Picture 7">
            <a:extLst>
              <a:ext uri="{FF2B5EF4-FFF2-40B4-BE49-F238E27FC236}">
                <a16:creationId xmlns:a16="http://schemas.microsoft.com/office/drawing/2014/main" id="{D78982CE-1E30-719E-58AF-53E8DA2F4C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583" y="1425349"/>
            <a:ext cx="5334000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4828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F447FC5-81F5-498F-B253-3D2BBDD2E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5E5CAB-CF5E-AD5E-6BB8-645E494D1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368296"/>
          </a:xfrm>
        </p:spPr>
        <p:txBody>
          <a:bodyPr>
            <a:normAutofit/>
          </a:bodyPr>
          <a:lstStyle/>
          <a:p>
            <a:r>
              <a:rPr lang="en-IN" dirty="0"/>
              <a:t>Stock Price Prediction - LSTM Model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183D605-F0BC-4923-9BAD-8F2204285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A59FC6-29E7-4618-829A-36CC011E5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3616882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132A5-4C30-38BC-1ED4-5E5EFB465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5976" y="3776472"/>
            <a:ext cx="4983480" cy="256946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LSTM trained on normalized Adjusted Close prices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Predicts next-day price from historical data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Evaluation Metrics: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MSE = 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RMSE = </a:t>
            </a:r>
          </a:p>
          <a:p>
            <a:pPr>
              <a:lnSpc>
                <a:spcPct val="100000"/>
              </a:lnSpc>
            </a:pPr>
            <a:endParaRPr lang="en-IN" dirty="0"/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C36FA4D5-F38C-2695-5AD6-180DB0B9C9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171" y="3138922"/>
            <a:ext cx="6142942" cy="3323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053CA28D-4FE8-F169-45F3-9B73A2440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264" y="208562"/>
            <a:ext cx="4007166" cy="3138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2915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64DF2-F7B5-61BA-6FF3-5D2E1952E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Behavioral Correlation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B1D54-7D02-8960-4AD2-B5715E410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799" y="1936310"/>
            <a:ext cx="5812215" cy="1714442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Merge sentiment and stock data by date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Analyze if fear/greed correlates with price change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>
              <a:lnSpc>
                <a:spcPct val="150000"/>
              </a:lnSpc>
            </a:pPr>
            <a:endParaRPr lang="en-IN" sz="2000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D4C70D2-3588-0778-941C-F9A30FDB2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0D4781A-8041-642C-DF71-E6FB6205A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30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4106" name="Picture 10">
            <a:extLst>
              <a:ext uri="{FF2B5EF4-FFF2-40B4-BE49-F238E27FC236}">
                <a16:creationId xmlns:a16="http://schemas.microsoft.com/office/drawing/2014/main" id="{0DE0185A-2439-AD7B-5366-6452B81D0E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2247" y="1936310"/>
            <a:ext cx="4509408" cy="4619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>
            <a:extLst>
              <a:ext uri="{FF2B5EF4-FFF2-40B4-BE49-F238E27FC236}">
                <a16:creationId xmlns:a16="http://schemas.microsoft.com/office/drawing/2014/main" id="{BD9834CF-F521-7E03-61B0-0EA735E6F9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033" y="3291163"/>
            <a:ext cx="5087336" cy="3093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7778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1" name="Freeform: Shape 7180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183" name="Freeform: Shape 7182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7185" name="Rectangle 7184">
            <a:extLst>
              <a:ext uri="{FF2B5EF4-FFF2-40B4-BE49-F238E27FC236}">
                <a16:creationId xmlns:a16="http://schemas.microsoft.com/office/drawing/2014/main" id="{CD7F9EC8-0E2C-4023-9DD1-73BEF6B80D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A30D58-4D27-7B60-4959-52523D84F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7565779" cy="13869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dirty="0"/>
              <a:t>Visual Insights</a:t>
            </a:r>
          </a:p>
        </p:txBody>
      </p:sp>
      <p:sp>
        <p:nvSpPr>
          <p:cNvPr id="7187" name="Freeform: Shape 7186">
            <a:extLst>
              <a:ext uri="{FF2B5EF4-FFF2-40B4-BE49-F238E27FC236}">
                <a16:creationId xmlns:a16="http://schemas.microsoft.com/office/drawing/2014/main" id="{DD646702-1788-B97D-918B-46834CD1E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176" name="Picture 8" descr="A graph with blue dots&#10;&#10;AI-generated content may be incorrect.">
            <a:extLst>
              <a:ext uri="{FF2B5EF4-FFF2-40B4-BE49-F238E27FC236}">
                <a16:creationId xmlns:a16="http://schemas.microsoft.com/office/drawing/2014/main" id="{0FB9C2FA-F1B8-94FC-2C05-3612023557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70"/>
          <a:stretch/>
        </p:blipFill>
        <p:spPr bwMode="auto">
          <a:xfrm>
            <a:off x="296488" y="2686442"/>
            <a:ext cx="5515396" cy="3157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0B88CC2-FA71-C924-E7F3-8866FBD6F0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700" r="41537"/>
          <a:stretch/>
        </p:blipFill>
        <p:spPr>
          <a:xfrm>
            <a:off x="6094476" y="2495430"/>
            <a:ext cx="5515396" cy="3584468"/>
          </a:xfrm>
          <a:prstGeom prst="rect">
            <a:avLst/>
          </a:prstGeom>
        </p:spPr>
      </p:pic>
      <p:sp>
        <p:nvSpPr>
          <p:cNvPr id="7189" name="Freeform: Shape 7188">
            <a:extLst>
              <a:ext uri="{FF2B5EF4-FFF2-40B4-BE49-F238E27FC236}">
                <a16:creationId xmlns:a16="http://schemas.microsoft.com/office/drawing/2014/main" id="{F6B4FCA5-23FA-C759-8E23-68410B3505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4CA6FC-C338-2E0C-90DD-C8658DC89C3D}"/>
              </a:ext>
            </a:extLst>
          </p:cNvPr>
          <p:cNvSpPr txBox="1"/>
          <p:nvPr/>
        </p:nvSpPr>
        <p:spPr>
          <a:xfrm>
            <a:off x="7103444" y="2175309"/>
            <a:ext cx="40811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100" dirty="0"/>
              <a:t>Adjusted close price vs sentiment over time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775383-6EF4-4044-34C8-BCE5E8FBC55C}"/>
              </a:ext>
            </a:extLst>
          </p:cNvPr>
          <p:cNvSpPr txBox="1"/>
          <p:nvPr/>
        </p:nvSpPr>
        <p:spPr>
          <a:xfrm>
            <a:off x="1259467" y="2339919"/>
            <a:ext cx="388860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100" dirty="0"/>
              <a:t>Adjusted close price vs sentiment over time</a:t>
            </a:r>
          </a:p>
          <a:p>
            <a:pPr algn="ctr"/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4215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D0986-0F6B-D3FA-AA8F-79483D357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4A148B4C-1F97-946D-8F82-C02AC63C4BE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18160" y="2049998"/>
          <a:ext cx="11155680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48D638D7-73B3-2DA0-C829-60E41D617C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20880E3-8E69-6134-F616-9F03050D0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8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20194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2B103-ABA2-FF64-2561-9BCEC01BA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43F13-BB6C-2F09-2E52-269283311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796143"/>
            <a:ext cx="11155680" cy="4549793"/>
          </a:xfrm>
        </p:spPr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Tools (Hugging Face, TensorFlow, etc.)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Datasets (Yahoo Finance, Twitter API)</a:t>
            </a:r>
          </a:p>
          <a:p>
            <a:pPr marL="0" indent="0">
              <a:buNone/>
            </a:pPr>
            <a:r>
              <a:rPr lang="en-IN" sz="1800" b="1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Journal / Conference Papers </a:t>
            </a:r>
            <a:endParaRPr lang="en-IN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[1] S. R. Subha and M. Archana, “Impact of Behavioral Finance in Investment Decision Making,” </a:t>
            </a:r>
            <a:r>
              <a:rPr lang="en-US" sz="1800" b="0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International Journal of Management and Social Science Research Review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vol. 1, no. 5, pp. 81–92, Dec. 2016. </a:t>
            </a:r>
          </a:p>
          <a:p>
            <a:pPr marL="0" indent="0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[2] D. Xu, Z. Du, and M. Cao, “Deep learning-based stock price movement prediction using sentiment analysis from social media,” </a:t>
            </a:r>
            <a:r>
              <a:rPr lang="en-US" sz="1800" b="0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Scientific Reports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vol. 13, article no. 18263, 2023 </a:t>
            </a:r>
          </a:p>
          <a:p>
            <a:pPr marL="0" indent="0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[3] A. Kumar and N. Goyal, “Stock Price Prediction Using LSTM and Sentiment Analysis,” </a:t>
            </a:r>
            <a:r>
              <a:rPr lang="en-US" sz="1800" b="0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Proceedings of the IEEE International Conference on Artificial Intelligence and Machine Learning (ICAIML)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India, 2021. </a:t>
            </a:r>
          </a:p>
          <a:p>
            <a:pPr marL="0" indent="0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[4] J. Bollen, H. Mao, and X. Zeng, “Twitter Mood Predicts the Stock Market,” </a:t>
            </a:r>
            <a:r>
              <a:rPr lang="en-US" sz="1800" b="0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Journal of Computational Science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vol. 2, no. 1, pp. 1–8, 2011. </a:t>
            </a:r>
          </a:p>
          <a:p>
            <a:pPr marL="0" indent="0">
              <a:buNone/>
            </a:pPr>
            <a:r>
              <a:rPr lang="en-IN" sz="1800" b="1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Web </a:t>
            </a:r>
            <a:endParaRPr lang="en-IN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[1] Behavioral Finance: Theories and Evidence, Cannon Financial Institute. Last Accessed: April 22, 2025. </a:t>
            </a:r>
          </a:p>
          <a:p>
            <a:pPr marL="0" indent="0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[2] DistilBERT: Smaller, Faster, Cheaper, Hugging Face Blog. Last Accessed: April 22, 2025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3667389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770</Words>
  <Application>Microsoft Office PowerPoint</Application>
  <PresentationFormat>Widescreen</PresentationFormat>
  <Paragraphs>78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Bierstadt</vt:lpstr>
      <vt:lpstr>Times New Roman</vt:lpstr>
      <vt:lpstr>GestaltVTI</vt:lpstr>
      <vt:lpstr>AI Based Behavioral Finance Analyzer</vt:lpstr>
      <vt:lpstr>INTRODUCTION</vt:lpstr>
      <vt:lpstr>Motivation &amp; Objectives</vt:lpstr>
      <vt:lpstr>Technologies Used</vt:lpstr>
      <vt:lpstr>System Architecture</vt:lpstr>
      <vt:lpstr>Dataset Description &amp; Preprocessing</vt:lpstr>
      <vt:lpstr>Sentiment Analysis – DistilBERT Model</vt:lpstr>
      <vt:lpstr>PowerPoint Presentation</vt:lpstr>
      <vt:lpstr>Stock Price Prediction - LSTM Model</vt:lpstr>
      <vt:lpstr>Behavioral Correlation Analysis</vt:lpstr>
      <vt:lpstr>Visual Insights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Aashvi Jain [CSE (ARTIFICIAL INTELLIGENCE &amp; MACHINE LEARNING) - 2022]</dc:creator>
  <cp:lastModifiedBy>AASHVI JAIN</cp:lastModifiedBy>
  <cp:revision>3</cp:revision>
  <dcterms:created xsi:type="dcterms:W3CDTF">2025-04-23T17:39:32Z</dcterms:created>
  <dcterms:modified xsi:type="dcterms:W3CDTF">2026-04-28T19:23:23Z</dcterms:modified>
</cp:coreProperties>
</file>